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Montserrat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260874" y="321507"/>
            <a:ext cx="6475209" cy="1625413"/>
          </a:xfrm>
          <a:custGeom>
            <a:avLst/>
            <a:gdLst/>
            <a:ahLst/>
            <a:cxnLst/>
            <a:rect r="r" b="b" t="t" l="l"/>
            <a:pathLst>
              <a:path h="1625413" w="6475209">
                <a:moveTo>
                  <a:pt x="0" y="0"/>
                </a:moveTo>
                <a:lnTo>
                  <a:pt x="6475209" y="0"/>
                </a:lnTo>
                <a:lnTo>
                  <a:pt x="6475209" y="1625413"/>
                </a:lnTo>
                <a:lnTo>
                  <a:pt x="0" y="16254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39351" y="1444838"/>
            <a:ext cx="1043845" cy="30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6"/>
              </a:lnSpc>
            </a:pPr>
            <a:r>
              <a:rPr lang="en-US" sz="181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ECDS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498479" y="796204"/>
            <a:ext cx="1084717" cy="715308"/>
            <a:chOff x="0" y="0"/>
            <a:chExt cx="1446289" cy="9537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6276" cy="953770"/>
            </a:xfrm>
            <a:custGeom>
              <a:avLst/>
              <a:gdLst/>
              <a:ahLst/>
              <a:cxnLst/>
              <a:rect r="r" b="b" t="t" l="l"/>
              <a:pathLst>
                <a:path h="953770" w="1446276">
                  <a:moveTo>
                    <a:pt x="0" y="0"/>
                  </a:moveTo>
                  <a:lnTo>
                    <a:pt x="1446276" y="0"/>
                  </a:lnTo>
                  <a:lnTo>
                    <a:pt x="1446276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821" r="0" b="-2581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58627" y="884939"/>
            <a:ext cx="813397" cy="813397"/>
            <a:chOff x="0" y="0"/>
            <a:chExt cx="1084529" cy="10845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4580" cy="1084580"/>
            </a:xfrm>
            <a:custGeom>
              <a:avLst/>
              <a:gdLst/>
              <a:ahLst/>
              <a:cxnLst/>
              <a:rect r="r" b="b" t="t" l="l"/>
              <a:pathLst>
                <a:path h="1084580" w="1084580">
                  <a:moveTo>
                    <a:pt x="542290" y="0"/>
                  </a:moveTo>
                  <a:cubicBezTo>
                    <a:pt x="242824" y="0"/>
                    <a:pt x="0" y="242824"/>
                    <a:pt x="0" y="542290"/>
                  </a:cubicBezTo>
                  <a:cubicBezTo>
                    <a:pt x="0" y="841756"/>
                    <a:pt x="242824" y="1084580"/>
                    <a:pt x="542290" y="1084580"/>
                  </a:cubicBezTo>
                  <a:cubicBezTo>
                    <a:pt x="841756" y="1084580"/>
                    <a:pt x="1084580" y="841756"/>
                    <a:pt x="1084580" y="542290"/>
                  </a:cubicBezTo>
                  <a:cubicBezTo>
                    <a:pt x="1084580" y="242824"/>
                    <a:pt x="841756" y="0"/>
                    <a:pt x="5422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08437" y="850944"/>
            <a:ext cx="2214601" cy="758657"/>
            <a:chOff x="0" y="0"/>
            <a:chExt cx="2952801" cy="10115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52750" cy="1011555"/>
            </a:xfrm>
            <a:custGeom>
              <a:avLst/>
              <a:gdLst/>
              <a:ahLst/>
              <a:cxnLst/>
              <a:rect r="r" b="b" t="t" l="l"/>
              <a:pathLst>
                <a:path h="1011555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1011555"/>
                  </a:lnTo>
                  <a:lnTo>
                    <a:pt x="0" y="1011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3308" r="-1" b="-3330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32755" y="636356"/>
            <a:ext cx="5454853" cy="1479633"/>
            <a:chOff x="0" y="0"/>
            <a:chExt cx="7273138" cy="19728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73163" cy="1972818"/>
            </a:xfrm>
            <a:custGeom>
              <a:avLst/>
              <a:gdLst/>
              <a:ahLst/>
              <a:cxnLst/>
              <a:rect r="r" b="b" t="t" l="l"/>
              <a:pathLst>
                <a:path h="1972818" w="7273163">
                  <a:moveTo>
                    <a:pt x="0" y="0"/>
                  </a:moveTo>
                  <a:lnTo>
                    <a:pt x="7273163" y="0"/>
                  </a:lnTo>
                  <a:lnTo>
                    <a:pt x="7273163" y="1972818"/>
                  </a:lnTo>
                  <a:lnTo>
                    <a:pt x="0" y="1972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" t="0" r="-76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360182" y="3185745"/>
            <a:ext cx="11567636" cy="238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9"/>
              </a:lnSpc>
            </a:pPr>
            <a:r>
              <a:rPr lang="en-US" b="true" sz="14269">
                <a:gradFill>
                  <a:gsLst>
                    <a:gs pos="0">
                      <a:srgbClr val="02645B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CareFlow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57812" y="7120181"/>
            <a:ext cx="10172376" cy="7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8"/>
              </a:lnSpc>
            </a:pPr>
            <a:r>
              <a:rPr lang="en-US" b="true" sz="5968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Team: </a:t>
            </a:r>
            <a:r>
              <a:rPr lang="en-US" b="true" sz="5968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QUADCORE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717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444658" y="2704433"/>
            <a:ext cx="12596174" cy="956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7"/>
              </a:lnSpc>
            </a:pPr>
            <a:r>
              <a:rPr lang="en-US" b="true" sz="7268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260874" y="321507"/>
            <a:ext cx="6475209" cy="1625413"/>
          </a:xfrm>
          <a:custGeom>
            <a:avLst/>
            <a:gdLst/>
            <a:ahLst/>
            <a:cxnLst/>
            <a:rect r="r" b="b" t="t" l="l"/>
            <a:pathLst>
              <a:path h="1625413" w="6475209">
                <a:moveTo>
                  <a:pt x="0" y="0"/>
                </a:moveTo>
                <a:lnTo>
                  <a:pt x="6475209" y="0"/>
                </a:lnTo>
                <a:lnTo>
                  <a:pt x="6475209" y="1625413"/>
                </a:lnTo>
                <a:lnTo>
                  <a:pt x="0" y="16254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539351" y="1444838"/>
            <a:ext cx="1043845" cy="30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6"/>
              </a:lnSpc>
            </a:pPr>
            <a:r>
              <a:rPr lang="en-US" sz="181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ECDS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498479" y="796204"/>
            <a:ext cx="1084717" cy="715308"/>
            <a:chOff x="0" y="0"/>
            <a:chExt cx="1446289" cy="9537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6276" cy="953770"/>
            </a:xfrm>
            <a:custGeom>
              <a:avLst/>
              <a:gdLst/>
              <a:ahLst/>
              <a:cxnLst/>
              <a:rect r="r" b="b" t="t" l="l"/>
              <a:pathLst>
                <a:path h="953770" w="1446276">
                  <a:moveTo>
                    <a:pt x="0" y="0"/>
                  </a:moveTo>
                  <a:lnTo>
                    <a:pt x="1446276" y="0"/>
                  </a:lnTo>
                  <a:lnTo>
                    <a:pt x="1446276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821" r="0" b="-2581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758627" y="884939"/>
            <a:ext cx="813397" cy="813397"/>
            <a:chOff x="0" y="0"/>
            <a:chExt cx="1084529" cy="10845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4580" cy="1084580"/>
            </a:xfrm>
            <a:custGeom>
              <a:avLst/>
              <a:gdLst/>
              <a:ahLst/>
              <a:cxnLst/>
              <a:rect r="r" b="b" t="t" l="l"/>
              <a:pathLst>
                <a:path h="1084580" w="1084580">
                  <a:moveTo>
                    <a:pt x="542290" y="0"/>
                  </a:moveTo>
                  <a:cubicBezTo>
                    <a:pt x="242824" y="0"/>
                    <a:pt x="0" y="242824"/>
                    <a:pt x="0" y="542290"/>
                  </a:cubicBezTo>
                  <a:cubicBezTo>
                    <a:pt x="0" y="841756"/>
                    <a:pt x="242824" y="1084580"/>
                    <a:pt x="542290" y="1084580"/>
                  </a:cubicBezTo>
                  <a:cubicBezTo>
                    <a:pt x="841756" y="1084580"/>
                    <a:pt x="1084580" y="841756"/>
                    <a:pt x="1084580" y="542290"/>
                  </a:cubicBezTo>
                  <a:cubicBezTo>
                    <a:pt x="1084580" y="242824"/>
                    <a:pt x="841756" y="0"/>
                    <a:pt x="5422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108437" y="850944"/>
            <a:ext cx="2214601" cy="758657"/>
            <a:chOff x="0" y="0"/>
            <a:chExt cx="2952801" cy="10115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52750" cy="1011555"/>
            </a:xfrm>
            <a:custGeom>
              <a:avLst/>
              <a:gdLst/>
              <a:ahLst/>
              <a:cxnLst/>
              <a:rect r="r" b="b" t="t" l="l"/>
              <a:pathLst>
                <a:path h="1011555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1011555"/>
                  </a:lnTo>
                  <a:lnTo>
                    <a:pt x="0" y="1011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3308" r="-1" b="-3330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32755" y="636356"/>
            <a:ext cx="5454853" cy="1479633"/>
            <a:chOff x="0" y="0"/>
            <a:chExt cx="7273138" cy="19728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73163" cy="1972818"/>
            </a:xfrm>
            <a:custGeom>
              <a:avLst/>
              <a:gdLst/>
              <a:ahLst/>
              <a:cxnLst/>
              <a:rect r="r" b="b" t="t" l="l"/>
              <a:pathLst>
                <a:path h="1972818" w="7273163">
                  <a:moveTo>
                    <a:pt x="0" y="0"/>
                  </a:moveTo>
                  <a:lnTo>
                    <a:pt x="7273163" y="0"/>
                  </a:lnTo>
                  <a:lnTo>
                    <a:pt x="7273163" y="1972818"/>
                  </a:lnTo>
                  <a:lnTo>
                    <a:pt x="0" y="1972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" t="0" r="-76" b="-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621966" y="6149315"/>
            <a:ext cx="15044068" cy="2732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3926" indent="-281963" lvl="1">
              <a:lnSpc>
                <a:spcPts val="6529"/>
              </a:lnSpc>
              <a:buFont typeface="Arial"/>
              <a:buChar char="•"/>
            </a:pPr>
            <a:r>
              <a:rPr lang="en-US" b="true" sz="26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This delay breaks the feedback-to-resolution loop and causes reputation damage.</a:t>
            </a:r>
          </a:p>
          <a:p>
            <a:pPr algn="l" marL="563926" indent="-281963" lvl="1">
              <a:lnSpc>
                <a:spcPts val="3656"/>
              </a:lnSpc>
              <a:buFont typeface="Arial"/>
              <a:buChar char="•"/>
            </a:pPr>
            <a:r>
              <a:rPr lang="en-US" b="true" sz="26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challenge is to capture dissatisfaction in real time and trigger a fast, closed-loop service recovery process.</a:t>
            </a:r>
          </a:p>
          <a:p>
            <a:pPr algn="l" marL="563926" indent="-281963" lvl="1">
              <a:lnSpc>
                <a:spcPts val="3657"/>
              </a:lnSpc>
              <a:buFont typeface="Arial"/>
              <a:buChar char="•"/>
            </a:pPr>
            <a:r>
              <a:rPr lang="en-US" b="true" sz="26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Target outcome: initiate complaint handling quickly with ticketing, manager alerts, and patient communication.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60612" y="4555915"/>
            <a:ext cx="12166777" cy="1150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6"/>
              </a:lnSpc>
              <a:spcBef>
                <a:spcPct val="0"/>
              </a:spcBef>
            </a:pPr>
            <a:r>
              <a:rPr lang="en-US" b="true" sz="3311">
                <a:solidFill>
                  <a:srgbClr val="EEECE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Hospitals often discover serious patient complaints too late, usually after public reviews are posted.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260874" y="321507"/>
            <a:ext cx="6475209" cy="1625413"/>
          </a:xfrm>
          <a:custGeom>
            <a:avLst/>
            <a:gdLst/>
            <a:ahLst/>
            <a:cxnLst/>
            <a:rect r="r" b="b" t="t" l="l"/>
            <a:pathLst>
              <a:path h="1625413" w="6475209">
                <a:moveTo>
                  <a:pt x="0" y="0"/>
                </a:moveTo>
                <a:lnTo>
                  <a:pt x="6475209" y="0"/>
                </a:lnTo>
                <a:lnTo>
                  <a:pt x="6475209" y="1625413"/>
                </a:lnTo>
                <a:lnTo>
                  <a:pt x="0" y="16254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39351" y="1444838"/>
            <a:ext cx="1043845" cy="30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6"/>
              </a:lnSpc>
            </a:pPr>
            <a:r>
              <a:rPr lang="en-US" sz="181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ECDS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498479" y="796204"/>
            <a:ext cx="1084717" cy="715308"/>
            <a:chOff x="0" y="0"/>
            <a:chExt cx="1446289" cy="9537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6276" cy="953770"/>
            </a:xfrm>
            <a:custGeom>
              <a:avLst/>
              <a:gdLst/>
              <a:ahLst/>
              <a:cxnLst/>
              <a:rect r="r" b="b" t="t" l="l"/>
              <a:pathLst>
                <a:path h="953770" w="1446276">
                  <a:moveTo>
                    <a:pt x="0" y="0"/>
                  </a:moveTo>
                  <a:lnTo>
                    <a:pt x="1446276" y="0"/>
                  </a:lnTo>
                  <a:lnTo>
                    <a:pt x="1446276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821" r="0" b="-2581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58627" y="884939"/>
            <a:ext cx="813397" cy="813397"/>
            <a:chOff x="0" y="0"/>
            <a:chExt cx="1084529" cy="10845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4580" cy="1084580"/>
            </a:xfrm>
            <a:custGeom>
              <a:avLst/>
              <a:gdLst/>
              <a:ahLst/>
              <a:cxnLst/>
              <a:rect r="r" b="b" t="t" l="l"/>
              <a:pathLst>
                <a:path h="1084580" w="1084580">
                  <a:moveTo>
                    <a:pt x="542290" y="0"/>
                  </a:moveTo>
                  <a:cubicBezTo>
                    <a:pt x="242824" y="0"/>
                    <a:pt x="0" y="242824"/>
                    <a:pt x="0" y="542290"/>
                  </a:cubicBezTo>
                  <a:cubicBezTo>
                    <a:pt x="0" y="841756"/>
                    <a:pt x="242824" y="1084580"/>
                    <a:pt x="542290" y="1084580"/>
                  </a:cubicBezTo>
                  <a:cubicBezTo>
                    <a:pt x="841756" y="1084580"/>
                    <a:pt x="1084580" y="841756"/>
                    <a:pt x="1084580" y="542290"/>
                  </a:cubicBezTo>
                  <a:cubicBezTo>
                    <a:pt x="1084580" y="242824"/>
                    <a:pt x="841756" y="0"/>
                    <a:pt x="5422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08437" y="850944"/>
            <a:ext cx="2214601" cy="758657"/>
            <a:chOff x="0" y="0"/>
            <a:chExt cx="2952801" cy="10115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52750" cy="1011555"/>
            </a:xfrm>
            <a:custGeom>
              <a:avLst/>
              <a:gdLst/>
              <a:ahLst/>
              <a:cxnLst/>
              <a:rect r="r" b="b" t="t" l="l"/>
              <a:pathLst>
                <a:path h="1011555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1011555"/>
                  </a:lnTo>
                  <a:lnTo>
                    <a:pt x="0" y="1011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3308" r="-1" b="-3330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32755" y="636356"/>
            <a:ext cx="5454853" cy="1479633"/>
            <a:chOff x="0" y="0"/>
            <a:chExt cx="7273138" cy="19728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73163" cy="1972818"/>
            </a:xfrm>
            <a:custGeom>
              <a:avLst/>
              <a:gdLst/>
              <a:ahLst/>
              <a:cxnLst/>
              <a:rect r="r" b="b" t="t" l="l"/>
              <a:pathLst>
                <a:path h="1972818" w="7273163">
                  <a:moveTo>
                    <a:pt x="0" y="0"/>
                  </a:moveTo>
                  <a:lnTo>
                    <a:pt x="7273163" y="0"/>
                  </a:lnTo>
                  <a:lnTo>
                    <a:pt x="7273163" y="1972818"/>
                  </a:lnTo>
                  <a:lnTo>
                    <a:pt x="0" y="1972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" t="0" r="-76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211062" y="4002734"/>
            <a:ext cx="13865876" cy="517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337" indent="-271169" lvl="1">
              <a:lnSpc>
                <a:spcPts val="4596"/>
              </a:lnSpc>
              <a:buFont typeface="Arial"/>
              <a:buChar char="•"/>
            </a:pPr>
            <a:r>
              <a:rPr lang="en-US" b="true" sz="25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system automates end-to-end service rec</a:t>
            </a:r>
            <a:r>
              <a:rPr lang="en-US" b="true" sz="25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overy after discharge/payment:</a:t>
            </a:r>
          </a:p>
          <a:p>
            <a:pPr algn="l" marL="542337" indent="-271169" lvl="1">
              <a:lnSpc>
                <a:spcPts val="4596"/>
              </a:lnSpc>
              <a:buFont typeface="Arial"/>
              <a:buChar char="•"/>
            </a:pPr>
            <a:r>
              <a:rPr lang="en-US" b="true" sz="25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Patient billing status updated to Paid/Discharged.</a:t>
            </a:r>
          </a:p>
          <a:p>
            <a:pPr algn="l" marL="542337" indent="-271169" lvl="1">
              <a:lnSpc>
                <a:spcPts val="4596"/>
              </a:lnSpc>
              <a:buFont typeface="Arial"/>
              <a:buChar char="•"/>
            </a:pPr>
            <a:r>
              <a:rPr lang="en-US" b="true" sz="25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WhatsApp survey message is auto-triggered.</a:t>
            </a:r>
          </a:p>
          <a:p>
            <a:pPr algn="l" marL="542337" indent="-271169" lvl="1">
              <a:lnSpc>
                <a:spcPts val="4596"/>
              </a:lnSpc>
              <a:buFont typeface="Arial"/>
              <a:buChar char="•"/>
            </a:pPr>
            <a:r>
              <a:rPr lang="en-US" b="true" sz="25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Patient reply is analyzed using Gemini (with local fallback).</a:t>
            </a:r>
          </a:p>
          <a:p>
            <a:pPr algn="l" marL="542337" indent="-271169" lvl="1">
              <a:lnSpc>
                <a:spcPts val="4596"/>
              </a:lnSpc>
              <a:buFont typeface="Arial"/>
              <a:buChar char="•"/>
            </a:pPr>
            <a:r>
              <a:rPr lang="en-US" b="true" sz="25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Sentiment, severity, complaint category, and summary are generated.</a:t>
            </a:r>
          </a:p>
          <a:p>
            <a:pPr algn="l" marL="542337" indent="-271169" lvl="1">
              <a:lnSpc>
                <a:spcPts val="4596"/>
              </a:lnSpc>
              <a:buFont typeface="Arial"/>
              <a:buChar char="•"/>
            </a:pPr>
            <a:r>
              <a:rPr lang="en-US" b="true" sz="25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Negative feedback creates a ticket, notifies duty manager, and sends a personalized resolution message.</a:t>
            </a:r>
          </a:p>
          <a:p>
            <a:pPr algn="l" marL="542337" indent="-271169" lvl="1">
              <a:lnSpc>
                <a:spcPts val="4596"/>
              </a:lnSpc>
              <a:buFont typeface="Arial"/>
              <a:buChar char="•"/>
            </a:pPr>
            <a:r>
              <a:rPr lang="en-US" b="true" sz="25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Positive feedback triggers a thank-you + review nudge.</a:t>
            </a:r>
          </a:p>
          <a:p>
            <a:pPr algn="l" marL="542337" indent="-271169" lvl="1">
              <a:lnSpc>
                <a:spcPts val="4596"/>
              </a:lnSpc>
              <a:buFont typeface="Arial"/>
              <a:buChar char="•"/>
            </a:pPr>
            <a:r>
              <a:rPr lang="en-US" b="true" sz="25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Weekly analytics report summarizes trends and actions.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45913" y="2513201"/>
            <a:ext cx="12596174" cy="956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7"/>
              </a:lnSpc>
            </a:pPr>
            <a:r>
              <a:rPr lang="en-US" b="true" sz="7268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Proposed Solution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260874" y="321507"/>
            <a:ext cx="6475209" cy="1625413"/>
          </a:xfrm>
          <a:custGeom>
            <a:avLst/>
            <a:gdLst/>
            <a:ahLst/>
            <a:cxnLst/>
            <a:rect r="r" b="b" t="t" l="l"/>
            <a:pathLst>
              <a:path h="1625413" w="6475209">
                <a:moveTo>
                  <a:pt x="0" y="0"/>
                </a:moveTo>
                <a:lnTo>
                  <a:pt x="6475209" y="0"/>
                </a:lnTo>
                <a:lnTo>
                  <a:pt x="6475209" y="1625413"/>
                </a:lnTo>
                <a:lnTo>
                  <a:pt x="0" y="16254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39351" y="1444838"/>
            <a:ext cx="1043845" cy="30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6"/>
              </a:lnSpc>
            </a:pPr>
            <a:r>
              <a:rPr lang="en-US" sz="181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ECDS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498479" y="796204"/>
            <a:ext cx="1084717" cy="715308"/>
            <a:chOff x="0" y="0"/>
            <a:chExt cx="1446289" cy="9537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6276" cy="953770"/>
            </a:xfrm>
            <a:custGeom>
              <a:avLst/>
              <a:gdLst/>
              <a:ahLst/>
              <a:cxnLst/>
              <a:rect r="r" b="b" t="t" l="l"/>
              <a:pathLst>
                <a:path h="953770" w="1446276">
                  <a:moveTo>
                    <a:pt x="0" y="0"/>
                  </a:moveTo>
                  <a:lnTo>
                    <a:pt x="1446276" y="0"/>
                  </a:lnTo>
                  <a:lnTo>
                    <a:pt x="1446276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821" r="0" b="-2581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58627" y="884939"/>
            <a:ext cx="813397" cy="813397"/>
            <a:chOff x="0" y="0"/>
            <a:chExt cx="1084529" cy="10845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4580" cy="1084580"/>
            </a:xfrm>
            <a:custGeom>
              <a:avLst/>
              <a:gdLst/>
              <a:ahLst/>
              <a:cxnLst/>
              <a:rect r="r" b="b" t="t" l="l"/>
              <a:pathLst>
                <a:path h="1084580" w="1084580">
                  <a:moveTo>
                    <a:pt x="542290" y="0"/>
                  </a:moveTo>
                  <a:cubicBezTo>
                    <a:pt x="242824" y="0"/>
                    <a:pt x="0" y="242824"/>
                    <a:pt x="0" y="542290"/>
                  </a:cubicBezTo>
                  <a:cubicBezTo>
                    <a:pt x="0" y="841756"/>
                    <a:pt x="242824" y="1084580"/>
                    <a:pt x="542290" y="1084580"/>
                  </a:cubicBezTo>
                  <a:cubicBezTo>
                    <a:pt x="841756" y="1084580"/>
                    <a:pt x="1084580" y="841756"/>
                    <a:pt x="1084580" y="542290"/>
                  </a:cubicBezTo>
                  <a:cubicBezTo>
                    <a:pt x="1084580" y="242824"/>
                    <a:pt x="841756" y="0"/>
                    <a:pt x="5422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08437" y="850944"/>
            <a:ext cx="2214601" cy="758657"/>
            <a:chOff x="0" y="0"/>
            <a:chExt cx="2952801" cy="10115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52750" cy="1011555"/>
            </a:xfrm>
            <a:custGeom>
              <a:avLst/>
              <a:gdLst/>
              <a:ahLst/>
              <a:cxnLst/>
              <a:rect r="r" b="b" t="t" l="l"/>
              <a:pathLst>
                <a:path h="1011555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1011555"/>
                  </a:lnTo>
                  <a:lnTo>
                    <a:pt x="0" y="1011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3308" r="-1" b="-3330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32755" y="636356"/>
            <a:ext cx="5454853" cy="1479633"/>
            <a:chOff x="0" y="0"/>
            <a:chExt cx="7273138" cy="19728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73163" cy="1972818"/>
            </a:xfrm>
            <a:custGeom>
              <a:avLst/>
              <a:gdLst/>
              <a:ahLst/>
              <a:cxnLst/>
              <a:rect r="r" b="b" t="t" l="l"/>
              <a:pathLst>
                <a:path h="1972818" w="7273163">
                  <a:moveTo>
                    <a:pt x="0" y="0"/>
                  </a:moveTo>
                  <a:lnTo>
                    <a:pt x="7273163" y="0"/>
                  </a:lnTo>
                  <a:lnTo>
                    <a:pt x="7273163" y="1972818"/>
                  </a:lnTo>
                  <a:lnTo>
                    <a:pt x="0" y="1972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" t="0" r="-76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27285" y="3996287"/>
            <a:ext cx="15233431" cy="52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3926" indent="-281963" lvl="1">
              <a:lnSpc>
                <a:spcPts val="5276"/>
              </a:lnSpc>
              <a:buFont typeface="Arial"/>
              <a:buChar char="•"/>
            </a:pPr>
            <a:r>
              <a:rPr lang="en-US" b="true" sz="26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Closed-loop automation from patient reply to action, not just passive analytics.</a:t>
            </a:r>
          </a:p>
          <a:p>
            <a:pPr algn="l" marL="563926" indent="-281963" lvl="1">
              <a:lnSpc>
                <a:spcPts val="5276"/>
              </a:lnSpc>
              <a:buFont typeface="Arial"/>
              <a:buChar char="•"/>
            </a:pPr>
            <a:r>
              <a:rPr lang="en-US" b="true" sz="26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Complaint intelligence + operations in one flow: sentiment -&gt; ticket -&gt; manager notification -&gt; patient response.</a:t>
            </a:r>
          </a:p>
          <a:p>
            <a:pPr algn="l" marL="563926" indent="-281963" lvl="1">
              <a:lnSpc>
                <a:spcPts val="5276"/>
              </a:lnSpc>
              <a:buFont typeface="Arial"/>
              <a:buChar char="•"/>
            </a:pPr>
            <a:r>
              <a:rPr lang="en-US" b="true" sz="26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Fallback AI logic ensures system continues even if Gemini quota/API is unavailable.</a:t>
            </a:r>
          </a:p>
          <a:p>
            <a:pPr algn="l" marL="563926" indent="-281963" lvl="1">
              <a:lnSpc>
                <a:spcPts val="5276"/>
              </a:lnSpc>
              <a:buFont typeface="Arial"/>
              <a:buChar char="•"/>
            </a:pPr>
            <a:r>
              <a:rPr lang="en-US" b="true" sz="26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Pattern-based escalation: repeated category (&gt;3/week/department) auto-escalates to department head.</a:t>
            </a:r>
          </a:p>
          <a:p>
            <a:pPr algn="l" marL="563926" indent="-281963" lvl="1">
              <a:lnSpc>
                <a:spcPts val="5276"/>
              </a:lnSpc>
              <a:buFont typeface="Arial"/>
              <a:buChar char="•"/>
            </a:pPr>
            <a:r>
              <a:rPr lang="en-US" b="true" sz="26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Unified operations console: simulator, dashboard, feedback, tickets, heatmap, analytics, notifications.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46577" y="2650293"/>
            <a:ext cx="6394847" cy="97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b="true" sz="730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INNOVATION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260874" y="321507"/>
            <a:ext cx="6475209" cy="1625413"/>
          </a:xfrm>
          <a:custGeom>
            <a:avLst/>
            <a:gdLst/>
            <a:ahLst/>
            <a:cxnLst/>
            <a:rect r="r" b="b" t="t" l="l"/>
            <a:pathLst>
              <a:path h="1625413" w="6475209">
                <a:moveTo>
                  <a:pt x="0" y="0"/>
                </a:moveTo>
                <a:lnTo>
                  <a:pt x="6475209" y="0"/>
                </a:lnTo>
                <a:lnTo>
                  <a:pt x="6475209" y="1625413"/>
                </a:lnTo>
                <a:lnTo>
                  <a:pt x="0" y="16254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39351" y="1444838"/>
            <a:ext cx="1043845" cy="30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6"/>
              </a:lnSpc>
            </a:pPr>
            <a:r>
              <a:rPr lang="en-US" sz="181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ECDS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498479" y="796204"/>
            <a:ext cx="1084717" cy="715308"/>
            <a:chOff x="0" y="0"/>
            <a:chExt cx="1446289" cy="9537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6276" cy="953770"/>
            </a:xfrm>
            <a:custGeom>
              <a:avLst/>
              <a:gdLst/>
              <a:ahLst/>
              <a:cxnLst/>
              <a:rect r="r" b="b" t="t" l="l"/>
              <a:pathLst>
                <a:path h="953770" w="1446276">
                  <a:moveTo>
                    <a:pt x="0" y="0"/>
                  </a:moveTo>
                  <a:lnTo>
                    <a:pt x="1446276" y="0"/>
                  </a:lnTo>
                  <a:lnTo>
                    <a:pt x="1446276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821" r="0" b="-2581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58627" y="884939"/>
            <a:ext cx="813397" cy="813397"/>
            <a:chOff x="0" y="0"/>
            <a:chExt cx="1084529" cy="10845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4580" cy="1084580"/>
            </a:xfrm>
            <a:custGeom>
              <a:avLst/>
              <a:gdLst/>
              <a:ahLst/>
              <a:cxnLst/>
              <a:rect r="r" b="b" t="t" l="l"/>
              <a:pathLst>
                <a:path h="1084580" w="1084580">
                  <a:moveTo>
                    <a:pt x="542290" y="0"/>
                  </a:moveTo>
                  <a:cubicBezTo>
                    <a:pt x="242824" y="0"/>
                    <a:pt x="0" y="242824"/>
                    <a:pt x="0" y="542290"/>
                  </a:cubicBezTo>
                  <a:cubicBezTo>
                    <a:pt x="0" y="841756"/>
                    <a:pt x="242824" y="1084580"/>
                    <a:pt x="542290" y="1084580"/>
                  </a:cubicBezTo>
                  <a:cubicBezTo>
                    <a:pt x="841756" y="1084580"/>
                    <a:pt x="1084580" y="841756"/>
                    <a:pt x="1084580" y="542290"/>
                  </a:cubicBezTo>
                  <a:cubicBezTo>
                    <a:pt x="1084580" y="242824"/>
                    <a:pt x="841756" y="0"/>
                    <a:pt x="5422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08437" y="850944"/>
            <a:ext cx="2214601" cy="758657"/>
            <a:chOff x="0" y="0"/>
            <a:chExt cx="2952801" cy="10115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52750" cy="1011555"/>
            </a:xfrm>
            <a:custGeom>
              <a:avLst/>
              <a:gdLst/>
              <a:ahLst/>
              <a:cxnLst/>
              <a:rect r="r" b="b" t="t" l="l"/>
              <a:pathLst>
                <a:path h="1011555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1011555"/>
                  </a:lnTo>
                  <a:lnTo>
                    <a:pt x="0" y="1011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3308" r="-1" b="-3330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32755" y="636356"/>
            <a:ext cx="5454853" cy="1479633"/>
            <a:chOff x="0" y="0"/>
            <a:chExt cx="7273138" cy="19728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73163" cy="1972818"/>
            </a:xfrm>
            <a:custGeom>
              <a:avLst/>
              <a:gdLst/>
              <a:ahLst/>
              <a:cxnLst/>
              <a:rect r="r" b="b" t="t" l="l"/>
              <a:pathLst>
                <a:path h="1972818" w="7273163">
                  <a:moveTo>
                    <a:pt x="0" y="0"/>
                  </a:moveTo>
                  <a:lnTo>
                    <a:pt x="7273163" y="0"/>
                  </a:lnTo>
                  <a:lnTo>
                    <a:pt x="7273163" y="1972818"/>
                  </a:lnTo>
                  <a:lnTo>
                    <a:pt x="0" y="1972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" t="0" r="-76" b="-1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183967" y="4592793"/>
            <a:ext cx="14106662" cy="2574229"/>
          </a:xfrm>
          <a:custGeom>
            <a:avLst/>
            <a:gdLst/>
            <a:ahLst/>
            <a:cxnLst/>
            <a:rect r="r" b="b" t="t" l="l"/>
            <a:pathLst>
              <a:path h="2574229" w="14106662">
                <a:moveTo>
                  <a:pt x="0" y="0"/>
                </a:moveTo>
                <a:lnTo>
                  <a:pt x="14106662" y="0"/>
                </a:lnTo>
                <a:lnTo>
                  <a:pt x="14106662" y="2574229"/>
                </a:lnTo>
                <a:lnTo>
                  <a:pt x="0" y="25742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3288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080894" y="2650293"/>
            <a:ext cx="6126212" cy="97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b="true" sz="730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TECH STACK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44933" y="7260388"/>
            <a:ext cx="2830498" cy="74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7"/>
              </a:lnSpc>
              <a:spcBef>
                <a:spcPct val="0"/>
              </a:spcBef>
            </a:pPr>
            <a:r>
              <a:rPr lang="en-US" b="true" sz="44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Python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45947" y="7326423"/>
            <a:ext cx="2830498" cy="67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7"/>
              </a:lnSpc>
              <a:spcBef>
                <a:spcPct val="0"/>
              </a:spcBef>
            </a:pPr>
            <a:r>
              <a:rPr lang="en-US" b="true" sz="40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MongoDB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45625" y="7260388"/>
            <a:ext cx="2830498" cy="74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7"/>
              </a:lnSpc>
              <a:spcBef>
                <a:spcPct val="0"/>
              </a:spcBef>
            </a:pPr>
            <a:r>
              <a:rPr lang="en-US" b="true" sz="44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ReactJS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25588" y="7260388"/>
            <a:ext cx="2830498" cy="69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7"/>
              </a:lnSpc>
              <a:spcBef>
                <a:spcPct val="0"/>
              </a:spcBef>
            </a:pPr>
            <a:r>
              <a:rPr lang="en-US" b="true" sz="41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Twilio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431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260874" y="321507"/>
            <a:ext cx="6475209" cy="1625413"/>
          </a:xfrm>
          <a:custGeom>
            <a:avLst/>
            <a:gdLst/>
            <a:ahLst/>
            <a:cxnLst/>
            <a:rect r="r" b="b" t="t" l="l"/>
            <a:pathLst>
              <a:path h="1625413" w="6475209">
                <a:moveTo>
                  <a:pt x="0" y="0"/>
                </a:moveTo>
                <a:lnTo>
                  <a:pt x="6475209" y="0"/>
                </a:lnTo>
                <a:lnTo>
                  <a:pt x="6475209" y="1625413"/>
                </a:lnTo>
                <a:lnTo>
                  <a:pt x="0" y="16254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39351" y="1444838"/>
            <a:ext cx="1043845" cy="30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6"/>
              </a:lnSpc>
            </a:pPr>
            <a:r>
              <a:rPr lang="en-US" sz="181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ECDS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498479" y="796204"/>
            <a:ext cx="1084717" cy="715308"/>
            <a:chOff x="0" y="0"/>
            <a:chExt cx="1446289" cy="9537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6276" cy="953770"/>
            </a:xfrm>
            <a:custGeom>
              <a:avLst/>
              <a:gdLst/>
              <a:ahLst/>
              <a:cxnLst/>
              <a:rect r="r" b="b" t="t" l="l"/>
              <a:pathLst>
                <a:path h="953770" w="1446276">
                  <a:moveTo>
                    <a:pt x="0" y="0"/>
                  </a:moveTo>
                  <a:lnTo>
                    <a:pt x="1446276" y="0"/>
                  </a:lnTo>
                  <a:lnTo>
                    <a:pt x="1446276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821" r="0" b="-2581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58627" y="884939"/>
            <a:ext cx="813397" cy="813397"/>
            <a:chOff x="0" y="0"/>
            <a:chExt cx="1084529" cy="10845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4580" cy="1084580"/>
            </a:xfrm>
            <a:custGeom>
              <a:avLst/>
              <a:gdLst/>
              <a:ahLst/>
              <a:cxnLst/>
              <a:rect r="r" b="b" t="t" l="l"/>
              <a:pathLst>
                <a:path h="1084580" w="1084580">
                  <a:moveTo>
                    <a:pt x="542290" y="0"/>
                  </a:moveTo>
                  <a:cubicBezTo>
                    <a:pt x="242824" y="0"/>
                    <a:pt x="0" y="242824"/>
                    <a:pt x="0" y="542290"/>
                  </a:cubicBezTo>
                  <a:cubicBezTo>
                    <a:pt x="0" y="841756"/>
                    <a:pt x="242824" y="1084580"/>
                    <a:pt x="542290" y="1084580"/>
                  </a:cubicBezTo>
                  <a:cubicBezTo>
                    <a:pt x="841756" y="1084580"/>
                    <a:pt x="1084580" y="841756"/>
                    <a:pt x="1084580" y="542290"/>
                  </a:cubicBezTo>
                  <a:cubicBezTo>
                    <a:pt x="1084580" y="242824"/>
                    <a:pt x="841756" y="0"/>
                    <a:pt x="5422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08437" y="850944"/>
            <a:ext cx="2214601" cy="758657"/>
            <a:chOff x="0" y="0"/>
            <a:chExt cx="2952801" cy="10115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52750" cy="1011555"/>
            </a:xfrm>
            <a:custGeom>
              <a:avLst/>
              <a:gdLst/>
              <a:ahLst/>
              <a:cxnLst/>
              <a:rect r="r" b="b" t="t" l="l"/>
              <a:pathLst>
                <a:path h="1011555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1011555"/>
                  </a:lnTo>
                  <a:lnTo>
                    <a:pt x="0" y="1011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3308" r="-1" b="-3330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32755" y="636356"/>
            <a:ext cx="5454853" cy="1479633"/>
            <a:chOff x="0" y="0"/>
            <a:chExt cx="7273138" cy="19728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73163" cy="1972818"/>
            </a:xfrm>
            <a:custGeom>
              <a:avLst/>
              <a:gdLst/>
              <a:ahLst/>
              <a:cxnLst/>
              <a:rect r="r" b="b" t="t" l="l"/>
              <a:pathLst>
                <a:path h="1972818" w="7273163">
                  <a:moveTo>
                    <a:pt x="0" y="0"/>
                  </a:moveTo>
                  <a:lnTo>
                    <a:pt x="7273163" y="0"/>
                  </a:lnTo>
                  <a:lnTo>
                    <a:pt x="7273163" y="1972818"/>
                  </a:lnTo>
                  <a:lnTo>
                    <a:pt x="0" y="1972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" t="0" r="-76" b="-1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633629" y="2647078"/>
            <a:ext cx="9918378" cy="6809049"/>
          </a:xfrm>
          <a:custGeom>
            <a:avLst/>
            <a:gdLst/>
            <a:ahLst/>
            <a:cxnLst/>
            <a:rect r="r" b="b" t="t" l="l"/>
            <a:pathLst>
              <a:path h="6809049" w="9918378">
                <a:moveTo>
                  <a:pt x="0" y="0"/>
                </a:moveTo>
                <a:lnTo>
                  <a:pt x="9918379" y="0"/>
                </a:lnTo>
                <a:lnTo>
                  <a:pt x="9918379" y="6809049"/>
                </a:lnTo>
                <a:lnTo>
                  <a:pt x="0" y="68090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828" t="-36601" r="-3828" b="-20217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32755" y="4522690"/>
            <a:ext cx="6211765" cy="154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9"/>
              </a:lnSpc>
            </a:pPr>
            <a:r>
              <a:rPr lang="en-US" b="true" sz="5959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SYSTEM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260874" y="321507"/>
            <a:ext cx="6475209" cy="1625413"/>
          </a:xfrm>
          <a:custGeom>
            <a:avLst/>
            <a:gdLst/>
            <a:ahLst/>
            <a:cxnLst/>
            <a:rect r="r" b="b" t="t" l="l"/>
            <a:pathLst>
              <a:path h="1625413" w="6475209">
                <a:moveTo>
                  <a:pt x="0" y="0"/>
                </a:moveTo>
                <a:lnTo>
                  <a:pt x="6475209" y="0"/>
                </a:lnTo>
                <a:lnTo>
                  <a:pt x="6475209" y="1625413"/>
                </a:lnTo>
                <a:lnTo>
                  <a:pt x="0" y="16254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39351" y="1444838"/>
            <a:ext cx="1043845" cy="30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6"/>
              </a:lnSpc>
            </a:pPr>
            <a:r>
              <a:rPr lang="en-US" sz="181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ECDS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498479" y="796204"/>
            <a:ext cx="1084717" cy="715308"/>
            <a:chOff x="0" y="0"/>
            <a:chExt cx="1446289" cy="9537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6276" cy="953770"/>
            </a:xfrm>
            <a:custGeom>
              <a:avLst/>
              <a:gdLst/>
              <a:ahLst/>
              <a:cxnLst/>
              <a:rect r="r" b="b" t="t" l="l"/>
              <a:pathLst>
                <a:path h="953770" w="1446276">
                  <a:moveTo>
                    <a:pt x="0" y="0"/>
                  </a:moveTo>
                  <a:lnTo>
                    <a:pt x="1446276" y="0"/>
                  </a:lnTo>
                  <a:lnTo>
                    <a:pt x="1446276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821" r="0" b="-2581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58627" y="884939"/>
            <a:ext cx="813397" cy="813397"/>
            <a:chOff x="0" y="0"/>
            <a:chExt cx="1084529" cy="10845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4580" cy="1084580"/>
            </a:xfrm>
            <a:custGeom>
              <a:avLst/>
              <a:gdLst/>
              <a:ahLst/>
              <a:cxnLst/>
              <a:rect r="r" b="b" t="t" l="l"/>
              <a:pathLst>
                <a:path h="1084580" w="1084580">
                  <a:moveTo>
                    <a:pt x="542290" y="0"/>
                  </a:moveTo>
                  <a:cubicBezTo>
                    <a:pt x="242824" y="0"/>
                    <a:pt x="0" y="242824"/>
                    <a:pt x="0" y="542290"/>
                  </a:cubicBezTo>
                  <a:cubicBezTo>
                    <a:pt x="0" y="841756"/>
                    <a:pt x="242824" y="1084580"/>
                    <a:pt x="542290" y="1084580"/>
                  </a:cubicBezTo>
                  <a:cubicBezTo>
                    <a:pt x="841756" y="1084580"/>
                    <a:pt x="1084580" y="841756"/>
                    <a:pt x="1084580" y="542290"/>
                  </a:cubicBezTo>
                  <a:cubicBezTo>
                    <a:pt x="1084580" y="242824"/>
                    <a:pt x="841756" y="0"/>
                    <a:pt x="5422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08437" y="850944"/>
            <a:ext cx="2214601" cy="758657"/>
            <a:chOff x="0" y="0"/>
            <a:chExt cx="2952801" cy="10115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52750" cy="1011555"/>
            </a:xfrm>
            <a:custGeom>
              <a:avLst/>
              <a:gdLst/>
              <a:ahLst/>
              <a:cxnLst/>
              <a:rect r="r" b="b" t="t" l="l"/>
              <a:pathLst>
                <a:path h="1011555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1011555"/>
                  </a:lnTo>
                  <a:lnTo>
                    <a:pt x="0" y="1011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3308" r="-1" b="-3330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32755" y="636356"/>
            <a:ext cx="5454853" cy="1479633"/>
            <a:chOff x="0" y="0"/>
            <a:chExt cx="7273138" cy="19728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73163" cy="1972818"/>
            </a:xfrm>
            <a:custGeom>
              <a:avLst/>
              <a:gdLst/>
              <a:ahLst/>
              <a:cxnLst/>
              <a:rect r="r" b="b" t="t" l="l"/>
              <a:pathLst>
                <a:path h="1972818" w="7273163">
                  <a:moveTo>
                    <a:pt x="0" y="0"/>
                  </a:moveTo>
                  <a:lnTo>
                    <a:pt x="7273163" y="0"/>
                  </a:lnTo>
                  <a:lnTo>
                    <a:pt x="7273163" y="1972818"/>
                  </a:lnTo>
                  <a:lnTo>
                    <a:pt x="0" y="1972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" t="0" r="-76" b="-1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766583" y="2675294"/>
            <a:ext cx="6582620" cy="6582620"/>
          </a:xfrm>
          <a:custGeom>
            <a:avLst/>
            <a:gdLst/>
            <a:ahLst/>
            <a:cxnLst/>
            <a:rect r="r" b="b" t="t" l="l"/>
            <a:pathLst>
              <a:path h="6582620" w="6582620">
                <a:moveTo>
                  <a:pt x="0" y="0"/>
                </a:moveTo>
                <a:lnTo>
                  <a:pt x="6582619" y="0"/>
                </a:lnTo>
                <a:lnTo>
                  <a:pt x="6582619" y="6582619"/>
                </a:lnTo>
                <a:lnTo>
                  <a:pt x="0" y="65826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2609944"/>
            <a:ext cx="5250889" cy="79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9"/>
              </a:lnSpc>
            </a:pPr>
            <a:r>
              <a:rPr lang="en-US" b="true" sz="5959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System Flow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854989"/>
            <a:ext cx="8320897" cy="540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4"/>
              </a:lnSpc>
              <a:spcBef>
                <a:spcPct val="0"/>
              </a:spcBef>
            </a:pPr>
            <a:r>
              <a:rPr lang="en-US" b="true" sz="206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 seeded patient in simulator.</a:t>
            </a:r>
          </a:p>
          <a:p>
            <a:pPr algn="l">
              <a:lnSpc>
                <a:spcPts val="2895"/>
              </a:lnSpc>
              <a:spcBef>
                <a:spcPct val="0"/>
              </a:spcBef>
            </a:pPr>
          </a:p>
          <a:p>
            <a:pPr algn="l">
              <a:lnSpc>
                <a:spcPts val="2894"/>
              </a:lnSpc>
              <a:spcBef>
                <a:spcPct val="0"/>
              </a:spcBef>
            </a:pPr>
            <a:r>
              <a:rPr lang="en-US" b="true" sz="206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Mark billing as Paid -&gt; survey sent on WhatsApp channel.</a:t>
            </a:r>
          </a:p>
          <a:p>
            <a:pPr algn="l">
              <a:lnSpc>
                <a:spcPts val="2895"/>
              </a:lnSpc>
              <a:spcBef>
                <a:spcPct val="0"/>
              </a:spcBef>
            </a:pPr>
          </a:p>
          <a:p>
            <a:pPr algn="l">
              <a:lnSpc>
                <a:spcPts val="2894"/>
              </a:lnSpc>
              <a:spcBef>
                <a:spcPct val="0"/>
              </a:spcBef>
            </a:pPr>
            <a:r>
              <a:rPr lang="en-US" b="true" sz="206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Submit patient reply (negative/neutral/positive).</a:t>
            </a:r>
          </a:p>
          <a:p>
            <a:pPr algn="l">
              <a:lnSpc>
                <a:spcPts val="2895"/>
              </a:lnSpc>
              <a:spcBef>
                <a:spcPct val="0"/>
              </a:spcBef>
            </a:pPr>
          </a:p>
          <a:p>
            <a:pPr algn="l">
              <a:lnSpc>
                <a:spcPts val="2894"/>
              </a:lnSpc>
              <a:spcBef>
                <a:spcPct val="0"/>
              </a:spcBef>
            </a:pPr>
            <a:r>
              <a:rPr lang="en-US" b="true" sz="206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Show generated sentiment, severity, category, summary.</a:t>
            </a:r>
          </a:p>
          <a:p>
            <a:pPr algn="l">
              <a:lnSpc>
                <a:spcPts val="2895"/>
              </a:lnSpc>
              <a:spcBef>
                <a:spcPct val="0"/>
              </a:spcBef>
            </a:pPr>
          </a:p>
          <a:p>
            <a:pPr algn="l">
              <a:lnSpc>
                <a:spcPts val="2894"/>
              </a:lnSpc>
              <a:spcBef>
                <a:spcPct val="0"/>
              </a:spcBef>
            </a:pPr>
            <a:r>
              <a:rPr lang="en-US" b="true" sz="206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 negative case: show created ticket and manager alert.</a:t>
            </a:r>
          </a:p>
          <a:p>
            <a:pPr algn="l">
              <a:lnSpc>
                <a:spcPts val="2895"/>
              </a:lnSpc>
              <a:spcBef>
                <a:spcPct val="0"/>
              </a:spcBef>
            </a:pPr>
          </a:p>
          <a:p>
            <a:pPr algn="l">
              <a:lnSpc>
                <a:spcPts val="2894"/>
              </a:lnSpc>
              <a:spcBef>
                <a:spcPct val="0"/>
              </a:spcBef>
            </a:pPr>
            <a:r>
              <a:rPr lang="en-US" b="true" sz="206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Show personalized resolution message recorded in workflow.</a:t>
            </a:r>
          </a:p>
          <a:p>
            <a:pPr algn="l">
              <a:lnSpc>
                <a:spcPts val="2895"/>
              </a:lnSpc>
              <a:spcBef>
                <a:spcPct val="0"/>
              </a:spcBef>
            </a:pPr>
          </a:p>
          <a:p>
            <a:pPr algn="l">
              <a:lnSpc>
                <a:spcPts val="2895"/>
              </a:lnSpc>
              <a:spcBef>
                <a:spcPct val="0"/>
              </a:spcBef>
            </a:pPr>
            <a:r>
              <a:rPr lang="en-US" b="true" sz="206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Open dashboard/heatmap/analytics to show system-wide impact.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260874" y="321507"/>
            <a:ext cx="6475209" cy="1625413"/>
          </a:xfrm>
          <a:custGeom>
            <a:avLst/>
            <a:gdLst/>
            <a:ahLst/>
            <a:cxnLst/>
            <a:rect r="r" b="b" t="t" l="l"/>
            <a:pathLst>
              <a:path h="1625413" w="6475209">
                <a:moveTo>
                  <a:pt x="0" y="0"/>
                </a:moveTo>
                <a:lnTo>
                  <a:pt x="6475209" y="0"/>
                </a:lnTo>
                <a:lnTo>
                  <a:pt x="6475209" y="1625413"/>
                </a:lnTo>
                <a:lnTo>
                  <a:pt x="0" y="16254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39351" y="1444838"/>
            <a:ext cx="1043845" cy="30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6"/>
              </a:lnSpc>
            </a:pPr>
            <a:r>
              <a:rPr lang="en-US" sz="181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ECDS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498479" y="796204"/>
            <a:ext cx="1084717" cy="715308"/>
            <a:chOff x="0" y="0"/>
            <a:chExt cx="1446289" cy="9537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6276" cy="953770"/>
            </a:xfrm>
            <a:custGeom>
              <a:avLst/>
              <a:gdLst/>
              <a:ahLst/>
              <a:cxnLst/>
              <a:rect r="r" b="b" t="t" l="l"/>
              <a:pathLst>
                <a:path h="953770" w="1446276">
                  <a:moveTo>
                    <a:pt x="0" y="0"/>
                  </a:moveTo>
                  <a:lnTo>
                    <a:pt x="1446276" y="0"/>
                  </a:lnTo>
                  <a:lnTo>
                    <a:pt x="1446276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821" r="0" b="-2581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58627" y="884939"/>
            <a:ext cx="813397" cy="813397"/>
            <a:chOff x="0" y="0"/>
            <a:chExt cx="1084529" cy="10845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4580" cy="1084580"/>
            </a:xfrm>
            <a:custGeom>
              <a:avLst/>
              <a:gdLst/>
              <a:ahLst/>
              <a:cxnLst/>
              <a:rect r="r" b="b" t="t" l="l"/>
              <a:pathLst>
                <a:path h="1084580" w="1084580">
                  <a:moveTo>
                    <a:pt x="542290" y="0"/>
                  </a:moveTo>
                  <a:cubicBezTo>
                    <a:pt x="242824" y="0"/>
                    <a:pt x="0" y="242824"/>
                    <a:pt x="0" y="542290"/>
                  </a:cubicBezTo>
                  <a:cubicBezTo>
                    <a:pt x="0" y="841756"/>
                    <a:pt x="242824" y="1084580"/>
                    <a:pt x="542290" y="1084580"/>
                  </a:cubicBezTo>
                  <a:cubicBezTo>
                    <a:pt x="841756" y="1084580"/>
                    <a:pt x="1084580" y="841756"/>
                    <a:pt x="1084580" y="542290"/>
                  </a:cubicBezTo>
                  <a:cubicBezTo>
                    <a:pt x="1084580" y="242824"/>
                    <a:pt x="841756" y="0"/>
                    <a:pt x="5422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08437" y="850944"/>
            <a:ext cx="2214601" cy="758657"/>
            <a:chOff x="0" y="0"/>
            <a:chExt cx="2952801" cy="10115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52750" cy="1011555"/>
            </a:xfrm>
            <a:custGeom>
              <a:avLst/>
              <a:gdLst/>
              <a:ahLst/>
              <a:cxnLst/>
              <a:rect r="r" b="b" t="t" l="l"/>
              <a:pathLst>
                <a:path h="1011555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1011555"/>
                  </a:lnTo>
                  <a:lnTo>
                    <a:pt x="0" y="1011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3308" r="-1" b="-3330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32755" y="636356"/>
            <a:ext cx="5454853" cy="1479633"/>
            <a:chOff x="0" y="0"/>
            <a:chExt cx="7273138" cy="19728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73163" cy="1972818"/>
            </a:xfrm>
            <a:custGeom>
              <a:avLst/>
              <a:gdLst/>
              <a:ahLst/>
              <a:cxnLst/>
              <a:rect r="r" b="b" t="t" l="l"/>
              <a:pathLst>
                <a:path h="1972818" w="7273163">
                  <a:moveTo>
                    <a:pt x="0" y="0"/>
                  </a:moveTo>
                  <a:lnTo>
                    <a:pt x="7273163" y="0"/>
                  </a:lnTo>
                  <a:lnTo>
                    <a:pt x="7273163" y="1972818"/>
                  </a:lnTo>
                  <a:lnTo>
                    <a:pt x="0" y="1972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" t="0" r="-76" b="-1"/>
              </a:stretch>
            </a:blipFill>
          </p:spPr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028700" y="4009755"/>
          <a:ext cx="15956821" cy="5248545"/>
        </p:xfrm>
        <a:graphic>
          <a:graphicData uri="http://schemas.openxmlformats.org/drawingml/2006/table">
            <a:tbl>
              <a:tblPr/>
              <a:tblGrid>
                <a:gridCol w="5318940"/>
                <a:gridCol w="5318940"/>
                <a:gridCol w="5318940"/>
              </a:tblGrid>
              <a:tr h="8827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     Problem Requirement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Feature Implemented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Technical </a:t>
                      </a:r>
                      <a:r>
                        <a:rPr lang="en-US" sz="23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Implementation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44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Eliminate Feedback Lag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Auto-Trigger System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Backend triggers WhatsApp via Twilio on Paid/Discharged status.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24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Understand "Why" &amp; "How Bad"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AI Analysis Engine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Gemini-powered category extraction and Severity Scoring (1-5).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44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Accountability &amp; Tracking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          CRM-Style Ticketing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Full-lifecycle ticket tracking with department-specific routing.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44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Proactive Management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Real-Time Heatmaps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Visualization of repeated patterns and high-risk department clusters.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2066106" y="2812998"/>
            <a:ext cx="14155787" cy="575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b="true" sz="430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Problem Requirements vs Features Implemented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17981" y="2767003"/>
            <a:ext cx="12652038" cy="80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b="true" sz="730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8F4EB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TEAM MEMBERS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260874" y="321507"/>
            <a:ext cx="6475209" cy="1625413"/>
          </a:xfrm>
          <a:custGeom>
            <a:avLst/>
            <a:gdLst/>
            <a:ahLst/>
            <a:cxnLst/>
            <a:rect r="r" b="b" t="t" l="l"/>
            <a:pathLst>
              <a:path h="1625413" w="6475209">
                <a:moveTo>
                  <a:pt x="0" y="0"/>
                </a:moveTo>
                <a:lnTo>
                  <a:pt x="6475209" y="0"/>
                </a:lnTo>
                <a:lnTo>
                  <a:pt x="6475209" y="1625413"/>
                </a:lnTo>
                <a:lnTo>
                  <a:pt x="0" y="16254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539351" y="1444838"/>
            <a:ext cx="1043845" cy="30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6"/>
              </a:lnSpc>
            </a:pPr>
            <a:r>
              <a:rPr lang="en-US" sz="181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ECDS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498479" y="796204"/>
            <a:ext cx="1084717" cy="715308"/>
            <a:chOff x="0" y="0"/>
            <a:chExt cx="1446289" cy="9537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6276" cy="953770"/>
            </a:xfrm>
            <a:custGeom>
              <a:avLst/>
              <a:gdLst/>
              <a:ahLst/>
              <a:cxnLst/>
              <a:rect r="r" b="b" t="t" l="l"/>
              <a:pathLst>
                <a:path h="953770" w="1446276">
                  <a:moveTo>
                    <a:pt x="0" y="0"/>
                  </a:moveTo>
                  <a:lnTo>
                    <a:pt x="1446276" y="0"/>
                  </a:lnTo>
                  <a:lnTo>
                    <a:pt x="1446276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821" r="0" b="-2581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758627" y="884939"/>
            <a:ext cx="813397" cy="813397"/>
            <a:chOff x="0" y="0"/>
            <a:chExt cx="1084529" cy="10845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4580" cy="1084580"/>
            </a:xfrm>
            <a:custGeom>
              <a:avLst/>
              <a:gdLst/>
              <a:ahLst/>
              <a:cxnLst/>
              <a:rect r="r" b="b" t="t" l="l"/>
              <a:pathLst>
                <a:path h="1084580" w="1084580">
                  <a:moveTo>
                    <a:pt x="542290" y="0"/>
                  </a:moveTo>
                  <a:cubicBezTo>
                    <a:pt x="242824" y="0"/>
                    <a:pt x="0" y="242824"/>
                    <a:pt x="0" y="542290"/>
                  </a:cubicBezTo>
                  <a:cubicBezTo>
                    <a:pt x="0" y="841756"/>
                    <a:pt x="242824" y="1084580"/>
                    <a:pt x="542290" y="1084580"/>
                  </a:cubicBezTo>
                  <a:cubicBezTo>
                    <a:pt x="841756" y="1084580"/>
                    <a:pt x="1084580" y="841756"/>
                    <a:pt x="1084580" y="542290"/>
                  </a:cubicBezTo>
                  <a:cubicBezTo>
                    <a:pt x="1084580" y="242824"/>
                    <a:pt x="841756" y="0"/>
                    <a:pt x="5422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108437" y="850944"/>
            <a:ext cx="2214601" cy="758657"/>
            <a:chOff x="0" y="0"/>
            <a:chExt cx="2952801" cy="10115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52750" cy="1011555"/>
            </a:xfrm>
            <a:custGeom>
              <a:avLst/>
              <a:gdLst/>
              <a:ahLst/>
              <a:cxnLst/>
              <a:rect r="r" b="b" t="t" l="l"/>
              <a:pathLst>
                <a:path h="1011555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1011555"/>
                  </a:lnTo>
                  <a:lnTo>
                    <a:pt x="0" y="1011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3308" r="-1" b="-3330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32755" y="636356"/>
            <a:ext cx="5454853" cy="1479633"/>
            <a:chOff x="0" y="0"/>
            <a:chExt cx="7273138" cy="19728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73163" cy="1972818"/>
            </a:xfrm>
            <a:custGeom>
              <a:avLst/>
              <a:gdLst/>
              <a:ahLst/>
              <a:cxnLst/>
              <a:rect r="r" b="b" t="t" l="l"/>
              <a:pathLst>
                <a:path h="1972818" w="7273163">
                  <a:moveTo>
                    <a:pt x="0" y="0"/>
                  </a:moveTo>
                  <a:lnTo>
                    <a:pt x="7273163" y="0"/>
                  </a:lnTo>
                  <a:lnTo>
                    <a:pt x="7273163" y="1972818"/>
                  </a:lnTo>
                  <a:lnTo>
                    <a:pt x="0" y="1972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" t="0" r="-76" b="-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395388" y="4445139"/>
            <a:ext cx="9497225" cy="465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DDD9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Mahatva Agarwal – 25MCA1081</a:t>
            </a:r>
          </a:p>
          <a:p>
            <a:pPr algn="l">
              <a:lnSpc>
                <a:spcPts val="5280"/>
              </a:lnSpc>
            </a:pPr>
          </a:p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DDD9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Aayush Raj – 25MCA1069</a:t>
            </a:r>
          </a:p>
          <a:p>
            <a:pPr algn="l">
              <a:lnSpc>
                <a:spcPts val="5280"/>
              </a:lnSpc>
            </a:pPr>
          </a:p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DDD9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Deeptanu Dhar – 25MCA1021</a:t>
            </a:r>
          </a:p>
          <a:p>
            <a:pPr algn="l">
              <a:lnSpc>
                <a:spcPts val="5280"/>
              </a:lnSpc>
            </a:pPr>
          </a:p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DDD9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Prince Kumar – 25MCA1018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260874" y="321507"/>
            <a:ext cx="6475209" cy="1625413"/>
          </a:xfrm>
          <a:custGeom>
            <a:avLst/>
            <a:gdLst/>
            <a:ahLst/>
            <a:cxnLst/>
            <a:rect r="r" b="b" t="t" l="l"/>
            <a:pathLst>
              <a:path h="1625413" w="6475209">
                <a:moveTo>
                  <a:pt x="0" y="0"/>
                </a:moveTo>
                <a:lnTo>
                  <a:pt x="6475209" y="0"/>
                </a:lnTo>
                <a:lnTo>
                  <a:pt x="6475209" y="1625413"/>
                </a:lnTo>
                <a:lnTo>
                  <a:pt x="0" y="16254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39351" y="1444838"/>
            <a:ext cx="1043845" cy="30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6"/>
              </a:lnSpc>
            </a:pPr>
            <a:r>
              <a:rPr lang="en-US" sz="181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ECDS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498479" y="796204"/>
            <a:ext cx="1084717" cy="715308"/>
            <a:chOff x="0" y="0"/>
            <a:chExt cx="1446289" cy="9537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6276" cy="953770"/>
            </a:xfrm>
            <a:custGeom>
              <a:avLst/>
              <a:gdLst/>
              <a:ahLst/>
              <a:cxnLst/>
              <a:rect r="r" b="b" t="t" l="l"/>
              <a:pathLst>
                <a:path h="953770" w="1446276">
                  <a:moveTo>
                    <a:pt x="0" y="0"/>
                  </a:moveTo>
                  <a:lnTo>
                    <a:pt x="1446276" y="0"/>
                  </a:lnTo>
                  <a:lnTo>
                    <a:pt x="1446276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821" r="0" b="-2581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58627" y="884939"/>
            <a:ext cx="813397" cy="813397"/>
            <a:chOff x="0" y="0"/>
            <a:chExt cx="1084529" cy="10845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4580" cy="1084580"/>
            </a:xfrm>
            <a:custGeom>
              <a:avLst/>
              <a:gdLst/>
              <a:ahLst/>
              <a:cxnLst/>
              <a:rect r="r" b="b" t="t" l="l"/>
              <a:pathLst>
                <a:path h="1084580" w="1084580">
                  <a:moveTo>
                    <a:pt x="542290" y="0"/>
                  </a:moveTo>
                  <a:cubicBezTo>
                    <a:pt x="242824" y="0"/>
                    <a:pt x="0" y="242824"/>
                    <a:pt x="0" y="542290"/>
                  </a:cubicBezTo>
                  <a:cubicBezTo>
                    <a:pt x="0" y="841756"/>
                    <a:pt x="242824" y="1084580"/>
                    <a:pt x="542290" y="1084580"/>
                  </a:cubicBezTo>
                  <a:cubicBezTo>
                    <a:pt x="841756" y="1084580"/>
                    <a:pt x="1084580" y="841756"/>
                    <a:pt x="1084580" y="542290"/>
                  </a:cubicBezTo>
                  <a:cubicBezTo>
                    <a:pt x="1084580" y="242824"/>
                    <a:pt x="841756" y="0"/>
                    <a:pt x="5422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08437" y="850944"/>
            <a:ext cx="2214601" cy="758657"/>
            <a:chOff x="0" y="0"/>
            <a:chExt cx="2952801" cy="10115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52750" cy="1011555"/>
            </a:xfrm>
            <a:custGeom>
              <a:avLst/>
              <a:gdLst/>
              <a:ahLst/>
              <a:cxnLst/>
              <a:rect r="r" b="b" t="t" l="l"/>
              <a:pathLst>
                <a:path h="1011555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1011555"/>
                  </a:lnTo>
                  <a:lnTo>
                    <a:pt x="0" y="1011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3308" r="-1" b="-3330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32755" y="636356"/>
            <a:ext cx="5454853" cy="1479633"/>
            <a:chOff x="0" y="0"/>
            <a:chExt cx="7273138" cy="19728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73163" cy="1972818"/>
            </a:xfrm>
            <a:custGeom>
              <a:avLst/>
              <a:gdLst/>
              <a:ahLst/>
              <a:cxnLst/>
              <a:rect r="r" b="b" t="t" l="l"/>
              <a:pathLst>
                <a:path h="1972818" w="7273163">
                  <a:moveTo>
                    <a:pt x="0" y="0"/>
                  </a:moveTo>
                  <a:lnTo>
                    <a:pt x="7273163" y="0"/>
                  </a:lnTo>
                  <a:lnTo>
                    <a:pt x="7273163" y="1972818"/>
                  </a:lnTo>
                  <a:lnTo>
                    <a:pt x="0" y="1972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" t="0" r="-76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205071" y="4722178"/>
            <a:ext cx="5171331" cy="97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b="true" sz="730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8F4EB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DAHDiP1O-BQ</dc:identifier>
  <dcterms:modified xsi:type="dcterms:W3CDTF">2011-08-01T06:04:30Z</dcterms:modified>
  <cp:revision>1</cp:revision>
  <dc:title>GLITCHCON 2.pptx</dc:title>
</cp:coreProperties>
</file>